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ABF9B-CBD5-4621-AF79-004053A305B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229EAD-494F-4470-9896-B856F8C4BF5F}">
      <dgm:prSet/>
      <dgm:spPr/>
      <dgm:t>
        <a:bodyPr/>
        <a:lstStyle/>
        <a:p>
          <a:r>
            <a:rPr lang="en-US" b="0" i="0" baseline="0"/>
            <a:t>Social engineering → manipulation of people to steal data or gain access.</a:t>
          </a:r>
          <a:endParaRPr lang="en-US"/>
        </a:p>
      </dgm:t>
    </dgm:pt>
    <dgm:pt modelId="{554581FF-A514-42CF-A926-2F273046204B}" type="parTrans" cxnId="{45749E31-7122-44C4-AB40-1E092CAEB14E}">
      <dgm:prSet/>
      <dgm:spPr/>
      <dgm:t>
        <a:bodyPr/>
        <a:lstStyle/>
        <a:p>
          <a:endParaRPr lang="en-US"/>
        </a:p>
      </dgm:t>
    </dgm:pt>
    <dgm:pt modelId="{66E426F2-9CD8-46DE-8251-108C5CA26781}" type="sibTrans" cxnId="{45749E31-7122-44C4-AB40-1E092CAEB14E}">
      <dgm:prSet/>
      <dgm:spPr/>
      <dgm:t>
        <a:bodyPr/>
        <a:lstStyle/>
        <a:p>
          <a:endParaRPr lang="en-US"/>
        </a:p>
      </dgm:t>
    </dgm:pt>
    <dgm:pt modelId="{2F9C7DAF-03E8-4DFB-AF97-C1D0D965479C}">
      <dgm:prSet/>
      <dgm:spPr/>
      <dgm:t>
        <a:bodyPr/>
        <a:lstStyle/>
        <a:p>
          <a:r>
            <a:rPr lang="en-US" b="0" i="0" baseline="0"/>
            <a:t>Common channels:</a:t>
          </a:r>
          <a:endParaRPr lang="en-US"/>
        </a:p>
      </dgm:t>
    </dgm:pt>
    <dgm:pt modelId="{4C2D722D-0B7D-4211-BBF4-BB63F954AA57}" type="parTrans" cxnId="{955E1A29-661F-476D-A744-4133832F2344}">
      <dgm:prSet/>
      <dgm:spPr/>
      <dgm:t>
        <a:bodyPr/>
        <a:lstStyle/>
        <a:p>
          <a:endParaRPr lang="en-US"/>
        </a:p>
      </dgm:t>
    </dgm:pt>
    <dgm:pt modelId="{994EEBEF-5710-4A3E-9C17-E064B01595E6}" type="sibTrans" cxnId="{955E1A29-661F-476D-A744-4133832F2344}">
      <dgm:prSet/>
      <dgm:spPr/>
      <dgm:t>
        <a:bodyPr/>
        <a:lstStyle/>
        <a:p>
          <a:endParaRPr lang="en-US"/>
        </a:p>
      </dgm:t>
    </dgm:pt>
    <dgm:pt modelId="{BD48D8B1-E09A-4927-87DA-391132B509E5}">
      <dgm:prSet/>
      <dgm:spPr/>
      <dgm:t>
        <a:bodyPr/>
        <a:lstStyle/>
        <a:p>
          <a:r>
            <a:rPr lang="en-US" b="1" i="0" baseline="0"/>
            <a:t>SMS</a:t>
          </a:r>
          <a:r>
            <a:rPr lang="en-US" b="0" i="0" baseline="0"/>
            <a:t>: spam, fake banking or OTP messages.</a:t>
          </a:r>
          <a:endParaRPr lang="en-US"/>
        </a:p>
      </dgm:t>
    </dgm:pt>
    <dgm:pt modelId="{C553DB59-BB73-4B79-B4E1-FB44CF2D5F7A}" type="parTrans" cxnId="{AAC7DAFB-212E-4FBC-AC9D-0CB1B656D2EE}">
      <dgm:prSet/>
      <dgm:spPr/>
      <dgm:t>
        <a:bodyPr/>
        <a:lstStyle/>
        <a:p>
          <a:endParaRPr lang="en-US"/>
        </a:p>
      </dgm:t>
    </dgm:pt>
    <dgm:pt modelId="{0EB987CD-CA88-4CB6-9F86-85B09207EA2A}" type="sibTrans" cxnId="{AAC7DAFB-212E-4FBC-AC9D-0CB1B656D2EE}">
      <dgm:prSet/>
      <dgm:spPr/>
      <dgm:t>
        <a:bodyPr/>
        <a:lstStyle/>
        <a:p>
          <a:endParaRPr lang="en-US"/>
        </a:p>
      </dgm:t>
    </dgm:pt>
    <dgm:pt modelId="{C0113653-E8EB-4014-94E5-A4C1E3A76246}">
      <dgm:prSet/>
      <dgm:spPr/>
      <dgm:t>
        <a:bodyPr/>
        <a:lstStyle/>
        <a:p>
          <a:r>
            <a:rPr lang="en-US" b="1" i="0" baseline="0"/>
            <a:t>Email</a:t>
          </a:r>
          <a:r>
            <a:rPr lang="en-US" b="0" i="0" baseline="0"/>
            <a:t>: phishing, credential harvesting, malicious attachments.</a:t>
          </a:r>
          <a:endParaRPr lang="en-US"/>
        </a:p>
      </dgm:t>
    </dgm:pt>
    <dgm:pt modelId="{F76E3046-C778-4C47-BC2D-0DCA45988611}" type="parTrans" cxnId="{5CA060DD-B487-4D79-9666-59CA12980081}">
      <dgm:prSet/>
      <dgm:spPr/>
      <dgm:t>
        <a:bodyPr/>
        <a:lstStyle/>
        <a:p>
          <a:endParaRPr lang="en-US"/>
        </a:p>
      </dgm:t>
    </dgm:pt>
    <dgm:pt modelId="{B1B6D833-4989-4CE5-A617-C22E5BE7FAB9}" type="sibTrans" cxnId="{5CA060DD-B487-4D79-9666-59CA12980081}">
      <dgm:prSet/>
      <dgm:spPr/>
      <dgm:t>
        <a:bodyPr/>
        <a:lstStyle/>
        <a:p>
          <a:endParaRPr lang="en-US"/>
        </a:p>
      </dgm:t>
    </dgm:pt>
    <dgm:pt modelId="{B69BA3E1-BC2E-4B34-8A87-DA042C2A28D5}">
      <dgm:prSet/>
      <dgm:spPr/>
      <dgm:t>
        <a:bodyPr/>
        <a:lstStyle/>
        <a:p>
          <a:r>
            <a:rPr lang="en-US" b="1" i="0" baseline="0"/>
            <a:t>Phone calls</a:t>
          </a:r>
          <a:r>
            <a:rPr lang="en-US" b="0" i="0" baseline="0"/>
            <a:t>: voice scams and robocalls pretending to be bank/support.</a:t>
          </a:r>
          <a:endParaRPr lang="en-US"/>
        </a:p>
      </dgm:t>
    </dgm:pt>
    <dgm:pt modelId="{1730FFFF-8A2F-435F-9DE3-6EB11E9937DC}" type="parTrans" cxnId="{5EFA9802-25E1-458E-AE05-F0662B1C234E}">
      <dgm:prSet/>
      <dgm:spPr/>
      <dgm:t>
        <a:bodyPr/>
        <a:lstStyle/>
        <a:p>
          <a:endParaRPr lang="en-US"/>
        </a:p>
      </dgm:t>
    </dgm:pt>
    <dgm:pt modelId="{8D54756A-C003-4E20-B7CC-B97F1E6A8285}" type="sibTrans" cxnId="{5EFA9802-25E1-458E-AE05-F0662B1C234E}">
      <dgm:prSet/>
      <dgm:spPr/>
      <dgm:t>
        <a:bodyPr/>
        <a:lstStyle/>
        <a:p>
          <a:endParaRPr lang="en-US"/>
        </a:p>
      </dgm:t>
    </dgm:pt>
    <dgm:pt modelId="{EA6DFB07-01E5-42A8-8888-94AA32E94AA1}">
      <dgm:prSet/>
      <dgm:spPr/>
      <dgm:t>
        <a:bodyPr/>
        <a:lstStyle/>
        <a:p>
          <a:r>
            <a:rPr lang="en-US" b="0" i="0" baseline="0"/>
            <a:t>Manual investigation of large volumes of messages and logs is slow.</a:t>
          </a:r>
          <a:endParaRPr lang="en-US"/>
        </a:p>
      </dgm:t>
    </dgm:pt>
    <dgm:pt modelId="{2EDA558D-24D3-4EA3-9ABF-253B83D234C4}" type="parTrans" cxnId="{F4E450D6-DA40-4F25-A4A5-668226805BE4}">
      <dgm:prSet/>
      <dgm:spPr/>
      <dgm:t>
        <a:bodyPr/>
        <a:lstStyle/>
        <a:p>
          <a:endParaRPr lang="en-US"/>
        </a:p>
      </dgm:t>
    </dgm:pt>
    <dgm:pt modelId="{16DF3010-7584-4DE1-B029-8521571705AF}" type="sibTrans" cxnId="{F4E450D6-DA40-4F25-A4A5-668226805BE4}">
      <dgm:prSet/>
      <dgm:spPr/>
      <dgm:t>
        <a:bodyPr/>
        <a:lstStyle/>
        <a:p>
          <a:endParaRPr lang="en-US"/>
        </a:p>
      </dgm:t>
    </dgm:pt>
    <dgm:pt modelId="{F489A5EB-7164-4FC0-AD60-6A6980CBFA38}" type="pres">
      <dgm:prSet presAssocID="{657ABF9B-CBD5-4621-AF79-004053A305B3}" presName="linear" presStyleCnt="0">
        <dgm:presLayoutVars>
          <dgm:animLvl val="lvl"/>
          <dgm:resizeHandles val="exact"/>
        </dgm:presLayoutVars>
      </dgm:prSet>
      <dgm:spPr/>
    </dgm:pt>
    <dgm:pt modelId="{7636F5F1-26F1-4984-919B-1C2750C0CBBF}" type="pres">
      <dgm:prSet presAssocID="{4E229EAD-494F-4470-9896-B856F8C4BF5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5991AE6-086B-404B-BC2E-B40F5D103E82}" type="pres">
      <dgm:prSet presAssocID="{66E426F2-9CD8-46DE-8251-108C5CA26781}" presName="spacer" presStyleCnt="0"/>
      <dgm:spPr/>
    </dgm:pt>
    <dgm:pt modelId="{C50DE21F-AE78-4B04-B507-92F4DF1E743C}" type="pres">
      <dgm:prSet presAssocID="{2F9C7DAF-03E8-4DFB-AF97-C1D0D965479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AEB69A0-EEED-4E86-A523-6B0C7472558E}" type="pres">
      <dgm:prSet presAssocID="{994EEBEF-5710-4A3E-9C17-E064B01595E6}" presName="spacer" presStyleCnt="0"/>
      <dgm:spPr/>
    </dgm:pt>
    <dgm:pt modelId="{E8535AE2-AEF4-4ACF-ACFF-6C49CC4D4129}" type="pres">
      <dgm:prSet presAssocID="{BD48D8B1-E09A-4927-87DA-391132B509E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1A3F788-6099-4790-BFA0-C0E2F0C34733}" type="pres">
      <dgm:prSet presAssocID="{0EB987CD-CA88-4CB6-9F86-85B09207EA2A}" presName="spacer" presStyleCnt="0"/>
      <dgm:spPr/>
    </dgm:pt>
    <dgm:pt modelId="{2755D678-E26A-4CFF-A8EC-01C57A4F75E1}" type="pres">
      <dgm:prSet presAssocID="{C0113653-E8EB-4014-94E5-A4C1E3A7624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C1DAA41-46F9-47FB-9A1A-2A804C3ABE36}" type="pres">
      <dgm:prSet presAssocID="{B1B6D833-4989-4CE5-A617-C22E5BE7FAB9}" presName="spacer" presStyleCnt="0"/>
      <dgm:spPr/>
    </dgm:pt>
    <dgm:pt modelId="{1BD2DC35-1E54-442A-9ABA-8C42D2C6A038}" type="pres">
      <dgm:prSet presAssocID="{B69BA3E1-BC2E-4B34-8A87-DA042C2A28D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FC39BF2-43E9-495B-BBE8-A447BD4D759A}" type="pres">
      <dgm:prSet presAssocID="{8D54756A-C003-4E20-B7CC-B97F1E6A8285}" presName="spacer" presStyleCnt="0"/>
      <dgm:spPr/>
    </dgm:pt>
    <dgm:pt modelId="{6CDD21E3-BA95-4BCB-87A5-0042F2F2E8EF}" type="pres">
      <dgm:prSet presAssocID="{EA6DFB07-01E5-42A8-8888-94AA32E94AA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EFA9802-25E1-458E-AE05-F0662B1C234E}" srcId="{657ABF9B-CBD5-4621-AF79-004053A305B3}" destId="{B69BA3E1-BC2E-4B34-8A87-DA042C2A28D5}" srcOrd="4" destOrd="0" parTransId="{1730FFFF-8A2F-435F-9DE3-6EB11E9937DC}" sibTransId="{8D54756A-C003-4E20-B7CC-B97F1E6A8285}"/>
    <dgm:cxn modelId="{955E1A29-661F-476D-A744-4133832F2344}" srcId="{657ABF9B-CBD5-4621-AF79-004053A305B3}" destId="{2F9C7DAF-03E8-4DFB-AF97-C1D0D965479C}" srcOrd="1" destOrd="0" parTransId="{4C2D722D-0B7D-4211-BBF4-BB63F954AA57}" sibTransId="{994EEBEF-5710-4A3E-9C17-E064B01595E6}"/>
    <dgm:cxn modelId="{45749E31-7122-44C4-AB40-1E092CAEB14E}" srcId="{657ABF9B-CBD5-4621-AF79-004053A305B3}" destId="{4E229EAD-494F-4470-9896-B856F8C4BF5F}" srcOrd="0" destOrd="0" parTransId="{554581FF-A514-42CF-A926-2F273046204B}" sibTransId="{66E426F2-9CD8-46DE-8251-108C5CA26781}"/>
    <dgm:cxn modelId="{B0EFFE62-020D-4F2F-9C05-85F257593D73}" type="presOf" srcId="{BD48D8B1-E09A-4927-87DA-391132B509E5}" destId="{E8535AE2-AEF4-4ACF-ACFF-6C49CC4D4129}" srcOrd="0" destOrd="0" presId="urn:microsoft.com/office/officeart/2005/8/layout/vList2"/>
    <dgm:cxn modelId="{87102355-96F7-4EC5-8D4F-028EBA5639F9}" type="presOf" srcId="{2F9C7DAF-03E8-4DFB-AF97-C1D0D965479C}" destId="{C50DE21F-AE78-4B04-B507-92F4DF1E743C}" srcOrd="0" destOrd="0" presId="urn:microsoft.com/office/officeart/2005/8/layout/vList2"/>
    <dgm:cxn modelId="{01DDE691-4D40-4DF1-80A2-F43D0664D7EB}" type="presOf" srcId="{EA6DFB07-01E5-42A8-8888-94AA32E94AA1}" destId="{6CDD21E3-BA95-4BCB-87A5-0042F2F2E8EF}" srcOrd="0" destOrd="0" presId="urn:microsoft.com/office/officeart/2005/8/layout/vList2"/>
    <dgm:cxn modelId="{11DEBF97-85E8-4DE6-B3AF-EF7AE5139FD8}" type="presOf" srcId="{B69BA3E1-BC2E-4B34-8A87-DA042C2A28D5}" destId="{1BD2DC35-1E54-442A-9ABA-8C42D2C6A038}" srcOrd="0" destOrd="0" presId="urn:microsoft.com/office/officeart/2005/8/layout/vList2"/>
    <dgm:cxn modelId="{8FD8D3B0-A082-4CC5-963B-F75169F835C7}" type="presOf" srcId="{657ABF9B-CBD5-4621-AF79-004053A305B3}" destId="{F489A5EB-7164-4FC0-AD60-6A6980CBFA38}" srcOrd="0" destOrd="0" presId="urn:microsoft.com/office/officeart/2005/8/layout/vList2"/>
    <dgm:cxn modelId="{DBEDD9B1-F27C-45F9-B909-81AC6C8E5116}" type="presOf" srcId="{C0113653-E8EB-4014-94E5-A4C1E3A76246}" destId="{2755D678-E26A-4CFF-A8EC-01C57A4F75E1}" srcOrd="0" destOrd="0" presId="urn:microsoft.com/office/officeart/2005/8/layout/vList2"/>
    <dgm:cxn modelId="{F4E450D6-DA40-4F25-A4A5-668226805BE4}" srcId="{657ABF9B-CBD5-4621-AF79-004053A305B3}" destId="{EA6DFB07-01E5-42A8-8888-94AA32E94AA1}" srcOrd="5" destOrd="0" parTransId="{2EDA558D-24D3-4EA3-9ABF-253B83D234C4}" sibTransId="{16DF3010-7584-4DE1-B029-8521571705AF}"/>
    <dgm:cxn modelId="{5CA060DD-B487-4D79-9666-59CA12980081}" srcId="{657ABF9B-CBD5-4621-AF79-004053A305B3}" destId="{C0113653-E8EB-4014-94E5-A4C1E3A76246}" srcOrd="3" destOrd="0" parTransId="{F76E3046-C778-4C47-BC2D-0DCA45988611}" sibTransId="{B1B6D833-4989-4CE5-A617-C22E5BE7FAB9}"/>
    <dgm:cxn modelId="{B17556F1-EB7C-4BD6-91A6-E5AB9F81FB73}" type="presOf" srcId="{4E229EAD-494F-4470-9896-B856F8C4BF5F}" destId="{7636F5F1-26F1-4984-919B-1C2750C0CBBF}" srcOrd="0" destOrd="0" presId="urn:microsoft.com/office/officeart/2005/8/layout/vList2"/>
    <dgm:cxn modelId="{AAC7DAFB-212E-4FBC-AC9D-0CB1B656D2EE}" srcId="{657ABF9B-CBD5-4621-AF79-004053A305B3}" destId="{BD48D8B1-E09A-4927-87DA-391132B509E5}" srcOrd="2" destOrd="0" parTransId="{C553DB59-BB73-4B79-B4E1-FB44CF2D5F7A}" sibTransId="{0EB987CD-CA88-4CB6-9F86-85B09207EA2A}"/>
    <dgm:cxn modelId="{9B1BCFF0-56FD-4561-B31B-ACC990440CF7}" type="presParOf" srcId="{F489A5EB-7164-4FC0-AD60-6A6980CBFA38}" destId="{7636F5F1-26F1-4984-919B-1C2750C0CBBF}" srcOrd="0" destOrd="0" presId="urn:microsoft.com/office/officeart/2005/8/layout/vList2"/>
    <dgm:cxn modelId="{C4AE3D1A-AA26-4866-A6D9-5D1A5FD0E2E7}" type="presParOf" srcId="{F489A5EB-7164-4FC0-AD60-6A6980CBFA38}" destId="{25991AE6-086B-404B-BC2E-B40F5D103E82}" srcOrd="1" destOrd="0" presId="urn:microsoft.com/office/officeart/2005/8/layout/vList2"/>
    <dgm:cxn modelId="{3642BA10-C69C-4469-9299-9EFC0A95C25D}" type="presParOf" srcId="{F489A5EB-7164-4FC0-AD60-6A6980CBFA38}" destId="{C50DE21F-AE78-4B04-B507-92F4DF1E743C}" srcOrd="2" destOrd="0" presId="urn:microsoft.com/office/officeart/2005/8/layout/vList2"/>
    <dgm:cxn modelId="{60638E04-0325-413B-8618-AF03526AD9C2}" type="presParOf" srcId="{F489A5EB-7164-4FC0-AD60-6A6980CBFA38}" destId="{DAEB69A0-EEED-4E86-A523-6B0C7472558E}" srcOrd="3" destOrd="0" presId="urn:microsoft.com/office/officeart/2005/8/layout/vList2"/>
    <dgm:cxn modelId="{332D9B80-C8E0-4E8A-980B-677FD58D2871}" type="presParOf" srcId="{F489A5EB-7164-4FC0-AD60-6A6980CBFA38}" destId="{E8535AE2-AEF4-4ACF-ACFF-6C49CC4D4129}" srcOrd="4" destOrd="0" presId="urn:microsoft.com/office/officeart/2005/8/layout/vList2"/>
    <dgm:cxn modelId="{5D07DBBF-34E4-4C8B-95AB-0FFC310B851C}" type="presParOf" srcId="{F489A5EB-7164-4FC0-AD60-6A6980CBFA38}" destId="{A1A3F788-6099-4790-BFA0-C0E2F0C34733}" srcOrd="5" destOrd="0" presId="urn:microsoft.com/office/officeart/2005/8/layout/vList2"/>
    <dgm:cxn modelId="{71C68463-2264-4787-A17E-B40A9274A6ED}" type="presParOf" srcId="{F489A5EB-7164-4FC0-AD60-6A6980CBFA38}" destId="{2755D678-E26A-4CFF-A8EC-01C57A4F75E1}" srcOrd="6" destOrd="0" presId="urn:microsoft.com/office/officeart/2005/8/layout/vList2"/>
    <dgm:cxn modelId="{7E2EE436-68D2-4FB9-9DF3-95BB90A61A90}" type="presParOf" srcId="{F489A5EB-7164-4FC0-AD60-6A6980CBFA38}" destId="{8C1DAA41-46F9-47FB-9A1A-2A804C3ABE36}" srcOrd="7" destOrd="0" presId="urn:microsoft.com/office/officeart/2005/8/layout/vList2"/>
    <dgm:cxn modelId="{2C7113F2-B7A0-43AD-A7F9-FFAB48440B47}" type="presParOf" srcId="{F489A5EB-7164-4FC0-AD60-6A6980CBFA38}" destId="{1BD2DC35-1E54-442A-9ABA-8C42D2C6A038}" srcOrd="8" destOrd="0" presId="urn:microsoft.com/office/officeart/2005/8/layout/vList2"/>
    <dgm:cxn modelId="{687C5AD5-3749-46C1-B15C-73304BEF03C1}" type="presParOf" srcId="{F489A5EB-7164-4FC0-AD60-6A6980CBFA38}" destId="{7FC39BF2-43E9-495B-BBE8-A447BD4D759A}" srcOrd="9" destOrd="0" presId="urn:microsoft.com/office/officeart/2005/8/layout/vList2"/>
    <dgm:cxn modelId="{92239934-D61D-403F-9D4D-D8516856993E}" type="presParOf" srcId="{F489A5EB-7164-4FC0-AD60-6A6980CBFA38}" destId="{6CDD21E3-BA95-4BCB-87A5-0042F2F2E8E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6F5F1-26F1-4984-919B-1C2750C0CBBF}">
      <dsp:nvSpPr>
        <dsp:cNvPr id="0" name=""/>
        <dsp:cNvSpPr/>
      </dsp:nvSpPr>
      <dsp:spPr>
        <a:xfrm>
          <a:off x="0" y="6961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Social engineering → manipulation of people to steal data or gain access.</a:t>
          </a:r>
          <a:endParaRPr lang="en-US" sz="2100" kern="1200"/>
        </a:p>
      </dsp:txBody>
      <dsp:txXfrm>
        <a:off x="40780" y="110399"/>
        <a:ext cx="6585273" cy="753819"/>
      </dsp:txXfrm>
    </dsp:sp>
    <dsp:sp modelId="{C50DE21F-AE78-4B04-B507-92F4DF1E743C}">
      <dsp:nvSpPr>
        <dsp:cNvPr id="0" name=""/>
        <dsp:cNvSpPr/>
      </dsp:nvSpPr>
      <dsp:spPr>
        <a:xfrm>
          <a:off x="0" y="96547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Common channels:</a:t>
          </a:r>
          <a:endParaRPr lang="en-US" sz="2100" kern="1200"/>
        </a:p>
      </dsp:txBody>
      <dsp:txXfrm>
        <a:off x="40780" y="1006259"/>
        <a:ext cx="6585273" cy="753819"/>
      </dsp:txXfrm>
    </dsp:sp>
    <dsp:sp modelId="{E8535AE2-AEF4-4ACF-ACFF-6C49CC4D4129}">
      <dsp:nvSpPr>
        <dsp:cNvPr id="0" name=""/>
        <dsp:cNvSpPr/>
      </dsp:nvSpPr>
      <dsp:spPr>
        <a:xfrm>
          <a:off x="0" y="186133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SMS</a:t>
          </a:r>
          <a:r>
            <a:rPr lang="en-US" sz="2100" b="0" i="0" kern="1200" baseline="0"/>
            <a:t>: spam, fake banking or OTP messages.</a:t>
          </a:r>
          <a:endParaRPr lang="en-US" sz="2100" kern="1200"/>
        </a:p>
      </dsp:txBody>
      <dsp:txXfrm>
        <a:off x="40780" y="1902119"/>
        <a:ext cx="6585273" cy="753819"/>
      </dsp:txXfrm>
    </dsp:sp>
    <dsp:sp modelId="{2755D678-E26A-4CFF-A8EC-01C57A4F75E1}">
      <dsp:nvSpPr>
        <dsp:cNvPr id="0" name=""/>
        <dsp:cNvSpPr/>
      </dsp:nvSpPr>
      <dsp:spPr>
        <a:xfrm>
          <a:off x="0" y="275720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Email</a:t>
          </a:r>
          <a:r>
            <a:rPr lang="en-US" sz="2100" b="0" i="0" kern="1200" baseline="0"/>
            <a:t>: phishing, credential harvesting, malicious attachments.</a:t>
          </a:r>
          <a:endParaRPr lang="en-US" sz="2100" kern="1200"/>
        </a:p>
      </dsp:txBody>
      <dsp:txXfrm>
        <a:off x="40780" y="2797980"/>
        <a:ext cx="6585273" cy="753819"/>
      </dsp:txXfrm>
    </dsp:sp>
    <dsp:sp modelId="{1BD2DC35-1E54-442A-9ABA-8C42D2C6A038}">
      <dsp:nvSpPr>
        <dsp:cNvPr id="0" name=""/>
        <dsp:cNvSpPr/>
      </dsp:nvSpPr>
      <dsp:spPr>
        <a:xfrm>
          <a:off x="0" y="365306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Phone calls</a:t>
          </a:r>
          <a:r>
            <a:rPr lang="en-US" sz="2100" b="0" i="0" kern="1200" baseline="0"/>
            <a:t>: voice scams and robocalls pretending to be bank/support.</a:t>
          </a:r>
          <a:endParaRPr lang="en-US" sz="2100" kern="1200"/>
        </a:p>
      </dsp:txBody>
      <dsp:txXfrm>
        <a:off x="40780" y="3693840"/>
        <a:ext cx="6585273" cy="753819"/>
      </dsp:txXfrm>
    </dsp:sp>
    <dsp:sp modelId="{6CDD21E3-BA95-4BCB-87A5-0042F2F2E8EF}">
      <dsp:nvSpPr>
        <dsp:cNvPr id="0" name=""/>
        <dsp:cNvSpPr/>
      </dsp:nvSpPr>
      <dsp:spPr>
        <a:xfrm>
          <a:off x="0" y="454892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Manual investigation of large volumes of messages and logs is slow.</a:t>
          </a:r>
          <a:endParaRPr lang="en-US" sz="2100" kern="1200"/>
        </a:p>
      </dsp:txBody>
      <dsp:txXfrm>
        <a:off x="40780" y="4589700"/>
        <a:ext cx="6585273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1A891-947B-A07D-E5CC-2EC3E7AEC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637165-1B85-BE93-A097-07AC1A17C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341723-D17B-6449-2486-55ADF49A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D59680-DB9D-493B-37DC-FA7460132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57619D-EFBD-BBD1-9295-F447AED8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210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55549-F39A-71A5-B6B4-411B7D5B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7E8D69-9E0F-596C-6B5E-E8DBCC93C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0AF5D7-FF6E-C869-2E33-1CE3CA0A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FFAF8-5428-74F8-31D8-B3CEFB6D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DAF1ED-5A94-B497-FCBD-2A91D730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757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877E7-73A0-9E38-2838-54FD7168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916714-87E4-614F-D793-4ACF3C87F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E88150-28DA-BEF3-844B-E9B0749B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BBE38C-AF02-13E9-EAA8-241F4108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17262F-7822-D5C5-BBB4-F0DC9119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675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ADE78-CD45-5675-C0D1-470EFFC8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FB8AA5-D045-B975-444E-D19E3554D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A7D35E-54F1-3DA1-438A-781A82E69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DA65D1-FBFF-FCBA-A167-1BD7C59B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391C9F-5156-B852-F1F3-B166608C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3240D4-0889-0ADB-448F-77E3E0C4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375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8689D-C3A9-E3DD-9198-692B73BF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3C3B93-B64F-E229-CD40-5513D3046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858EE2-582D-4348-BFB4-EA753B2E8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AFDAC1-9A0E-F69A-D84B-5068D6329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DCE672-73FC-6617-E342-7D43A5BBE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2FAB1ED-F107-123E-54FF-DF4F513E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17A4EA-3AF5-01B3-63E0-428D35F0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AAEF13-5530-3441-00C6-024FF07E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775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AE6F3-5967-BF94-BD36-DE6CF940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A4F507-77E2-26BB-AAA4-5EE53AB2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B6C513-B9FF-1F90-2495-30F58676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6577EC-99AD-6C21-1AEB-E63634B3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974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E402FF-373A-1270-0739-11F9557E7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7E5FD7-66F6-3900-2F29-59BEA8DD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074A5A-CB44-BDD7-D4D9-BF1AC4EF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788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3A61E-37EB-D127-9B11-AAB35D32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2ABB3E-F7CE-6201-EC14-B1AD1D6A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5FF3D5-5040-FD0E-0753-4653DD268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783A77-82BF-3FE6-24B3-5AC9269A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E96CB4-1642-F426-6C20-0B2F950B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9D23A5-E549-C1AE-C23D-8BB973A0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8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CD54E-A8E3-A414-3BDA-70991EB6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1D39135-793C-BD08-467A-F1DD3C9714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471E4C-7E83-A8BB-A790-F810469F2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228F21-805E-29C4-2206-4B776EA8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4F23D4-A337-50B9-6B4A-509C510D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FA3B8D-7BF2-6077-DA5F-BD1A79B50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204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75156-568B-51BA-1DA6-2C48003D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24FC4C-FA25-E3EC-EEEB-60EEDF215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2D1752-29D0-1FA6-4A91-0E2EA3CC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CE79D7-1C60-828B-7FAB-8DB9B107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0AF5E4-4164-1589-92BD-469A4DCD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040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0A2F82-C835-321F-94E2-91C85DB1F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458C0F-F72D-3DE1-5FB7-B9F7318CF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562153-FEE5-5A7C-D0CA-CE50BEDB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1F52F5-0F4B-D934-9002-1E098B01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1B6728-4087-A103-E176-4F579E85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142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D0512-79BA-C4A9-FF45-DFE65749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ECE5E3-2513-BD22-C3BA-4E14277B1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14AFB8-07C5-B24A-C2C6-C3C96606F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E6A03-539F-4C70-9735-AED4BD6C73C6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784C7A-CD2A-7A63-EC01-CCE2C4FC5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9C80FC-FB3F-0464-D96C-2B8094696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85398-634C-4FBD-A7BC-939E833C36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322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naserabdullahalam/phishing-email-dataset/data" TargetMode="External"/><Relationship Id="rId2" Type="http://schemas.openxmlformats.org/officeDocument/2006/relationships/hyperlink" Target="https://www.kaggle.com/code/dejavu23/sms-spam-or-ham-beginner/noteboo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62506-F2BB-19B9-67AF-A33447948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4400"/>
              <a:t>Investigation of Social Engineering Attacks (Call, Email, SMS) Using Machine Learning</a:t>
            </a:r>
            <a:endParaRPr lang="LID4096" sz="44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C8C043-1AF6-01AC-EA15-F3362A026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br>
              <a:rPr lang="en-US" sz="1900" dirty="0"/>
            </a:br>
            <a:r>
              <a:rPr lang="en-US" sz="1900" b="1" dirty="0"/>
              <a:t>Course:</a:t>
            </a:r>
            <a:r>
              <a:rPr lang="en-US" sz="1900" dirty="0"/>
              <a:t> Investigation</a:t>
            </a:r>
            <a:r>
              <a:rPr lang="ru-RU" sz="1900" dirty="0"/>
              <a:t> </a:t>
            </a:r>
            <a:r>
              <a:rPr lang="en-US" sz="1900" dirty="0"/>
              <a:t>IT Incident </a:t>
            </a:r>
          </a:p>
          <a:p>
            <a:pPr algn="l"/>
            <a:r>
              <a:rPr lang="en-US" sz="1900" b="1" dirty="0"/>
              <a:t>Instructor:</a:t>
            </a:r>
            <a:r>
              <a:rPr lang="en-US" sz="1900" dirty="0"/>
              <a:t> Professor Dr. Abdul </a:t>
            </a:r>
            <a:r>
              <a:rPr lang="en-US" sz="1900" dirty="0" err="1"/>
              <a:t>Razaque</a:t>
            </a:r>
            <a:r>
              <a:rPr lang="en-US" sz="1900" dirty="0"/>
              <a:t>, PhD &amp; Postdoc </a:t>
            </a:r>
          </a:p>
          <a:p>
            <a:pPr algn="l"/>
            <a:r>
              <a:rPr lang="en-US" sz="1900" b="1" dirty="0"/>
              <a:t>Students: </a:t>
            </a:r>
            <a:r>
              <a:rPr lang="en-US" sz="1900" dirty="0"/>
              <a:t>Ali Altynbekov, Timur Kamalov</a:t>
            </a:r>
          </a:p>
          <a:p>
            <a:pPr algn="l"/>
            <a:r>
              <a:rPr lang="en-US" sz="1900" b="1" dirty="0"/>
              <a:t>Group: </a:t>
            </a:r>
            <a:r>
              <a:rPr lang="en-US" sz="1900" dirty="0"/>
              <a:t>CTC-241M</a:t>
            </a:r>
            <a:r>
              <a:rPr lang="en-US" sz="1900" b="1" dirty="0"/>
              <a:t> </a:t>
            </a:r>
            <a:endParaRPr lang="LID4096" sz="1900" dirty="0"/>
          </a:p>
        </p:txBody>
      </p:sp>
      <p:pic>
        <p:nvPicPr>
          <p:cNvPr id="7" name="Graphic 6" descr="Программист">
            <a:extLst>
              <a:ext uri="{FF2B5EF4-FFF2-40B4-BE49-F238E27FC236}">
                <a16:creationId xmlns:a16="http://schemas.microsoft.com/office/drawing/2014/main" id="{69A981A3-9F2A-2832-706E-64A89C41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Программист">
            <a:extLst>
              <a:ext uri="{FF2B5EF4-FFF2-40B4-BE49-F238E27FC236}">
                <a16:creationId xmlns:a16="http://schemas.microsoft.com/office/drawing/2014/main" id="{45468316-7B65-4057-A48E-8F487E120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6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B7EB-E2E3-4E2A-D41A-D5E32DB8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Problem Background: Social Engineering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093C5799-618A-0AE6-73AE-C49569668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7824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55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E4738-ABE7-EF08-E688-4359942D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Goal &amp; Research Questions</a:t>
            </a:r>
            <a:endParaRPr lang="LID4096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7EC38C-FD8E-3289-8FA7-8B9620F65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Build ML-based detectors for: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SMS spam vs ham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Phishing vs legitimate emails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Scam vs normal phone calls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questions: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Which channel is most “dangerous” (highest share of attacks)?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Which model works better for social engineering detection (LogReg vs Random Forest)?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typical words and patterns appear in attacks?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Where are the limitations of this approach?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65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9B972-AFC3-BAA1-BFA0-24A57CDB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sz="4000"/>
              <a:t>Datasets Overview</a:t>
            </a:r>
            <a:endParaRPr lang="LID4096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757B20-3AE9-A84B-810A-AECF1383B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396" y="2277036"/>
            <a:ext cx="5814239" cy="34611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SMS (spam.csv)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Kaggle SMS Spam Collection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Thousands of messages labeled as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spam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/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ham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Fields: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label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text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LID4096" altLang="LID4096" sz="1600" b="0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 (CEAS_08.csv)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Kaggle phishing email dataset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Labeled phishing / legitimate emails.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Multiple text columns combined into a single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text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</a:rPr>
              <a:t> field.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Calls (call_log.csv)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synthetic phone scam dataset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Designed for this project.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Fields: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timestamp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caller_number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country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duration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transcript_snippet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label</a:t>
            </a:r>
            <a:r>
              <a:rPr kumimoji="0" lang="LID4096" altLang="LID4096" sz="1600" b="0" i="1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LID4096" altLang="LID4096" sz="1600" b="0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Labels unified to 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binary target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(0 = normal, 1 = malicious).</a:t>
            </a:r>
          </a:p>
        </p:txBody>
      </p:sp>
      <p:pic>
        <p:nvPicPr>
          <p:cNvPr id="8" name="Рисунок 7" descr="Изображение выглядит как снимок экрана, текс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F32D02-20F3-D035-83C9-60889326F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318433"/>
            <a:ext cx="7306411" cy="107769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A8D1DA-BAA7-8995-2CA6-43FDF39C3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828" y="1714559"/>
            <a:ext cx="5196137" cy="32735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4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14141FC-8189-47F8-821A-FC9A4E91E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8DB82-FE39-BCB0-D6F1-57E86F93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 dirty="0"/>
              <a:t>Class Distribution &amp; Message Length</a:t>
            </a:r>
            <a:endParaRPr lang="LID4096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981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0A4913-1983-907E-88D1-F0D23F5F3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9064" y="288350"/>
            <a:ext cx="7010080" cy="20893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 each dataset: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Class balance (normal vs malicious) is different.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SMS &amp; Email: unbalanced (more normal than malicious).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Calls: small dataset with few samples.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Message length histograms: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Spam / phishing messages often </a:t>
            </a: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longer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contain more “action words” and URLs.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Normal messages are often shorter and more informal.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 descr="Изображение выглядит как текст, снимок экрана, диспле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2C7D31-CEB6-BC91-5721-10D6A2726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52" b="-3"/>
          <a:stretch>
            <a:fillRect/>
          </a:stretch>
        </p:blipFill>
        <p:spPr>
          <a:xfrm>
            <a:off x="557784" y="2606462"/>
            <a:ext cx="3584448" cy="3639312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810067-7237-A35E-7E30-8C1A37A2A5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" r="15633" b="-4"/>
          <a:stretch>
            <a:fillRect/>
          </a:stretch>
        </p:blipFill>
        <p:spPr>
          <a:xfrm>
            <a:off x="4347599" y="2606462"/>
            <a:ext cx="3584448" cy="3639312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66B325-01B9-095D-84F3-04ABA45717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0" r="20976" b="-3"/>
          <a:stretch>
            <a:fillRect/>
          </a:stretch>
        </p:blipFill>
        <p:spPr>
          <a:xfrm>
            <a:off x="8137415" y="2606462"/>
            <a:ext cx="3584448" cy="363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55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6FBD65-3F63-4EE5-8D45-448683AC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2" y="2120197"/>
            <a:ext cx="3663904" cy="269296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B84AB7-6B44-4BFA-EA3B-7BD25B75C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2120197"/>
            <a:ext cx="3593510" cy="257127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948176-FDE2-C239-B974-D5B0D6691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1773700"/>
            <a:ext cx="4029664" cy="293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CB40C-3AA9-14D3-45BC-0260B4C8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 dirty="0"/>
              <a:t>Preprocessing &amp; Feature Extraction</a:t>
            </a:r>
            <a:endParaRPr lang="LID4096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 descr="Изображение выглядит как текст, программное обеспечение, Мультимедийное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5F1CDB-43BD-62F3-24FC-B57D37733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905760"/>
            <a:ext cx="10872172" cy="2554960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4F7A895-3007-4451-8988-7EF7B5A2F8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0835" y="3571875"/>
            <a:ext cx="6382966" cy="3009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 preprocessing: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Lowercasing.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Removing English stopwords (handled by TfidfVectorizer).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unigrams + bigrams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capture phrases like “verify account”, “urgent action”.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TF–IDF with up to 10 000 features per channel.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channel is modeled </a:t>
            </a: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separately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SMS, Email, and Calls have different style and vocabulary.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Separate models let us adapt to each medium.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6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7D430-F286-F6A7-7F0B-0B892B08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Machine Learning Models</a:t>
            </a:r>
            <a:endParaRPr lang="LID4096" sz="50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5E413-3635-09FA-8A9A-FF62966FCA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Baseline model: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Logistic Regression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Linear model on TF–IDF features.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Works well for text classification and interpretable feature weights.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Improved model: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Random Forest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Ensemble of decision trees.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 capture non-linear patterns and interactions.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Train-test split: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80/20 (or adjusted for small call dataset).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Stratified splits when possible to keep class balance.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849D8A-E9B4-01CB-11CF-A05F781B6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273" y="640080"/>
            <a:ext cx="402451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25C9F-A1DE-64FF-3B78-4EEE419C0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Results: SMS (Spam vs Ham)</a:t>
            </a:r>
            <a:endParaRPr lang="LID4096" sz="50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C8643D-54EC-B89F-1270-04CC85678D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Metrics (fill in from </a:t>
            </a: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channel_model_summary.csv</a:t>
            </a: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</a:rPr>
              <a:t>):</a:t>
            </a:r>
            <a:endParaRPr kumimoji="0" lang="LID4096" altLang="LID4096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Logistic Regression: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Precision (malicious), Recall (malicious).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Precision (malicious), Recall (malicious).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Observations: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SMS spam is relatively easy to detect using TF–IDF.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Typical spam indicators: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“free”, “win”, “prize”, “call now”, “claim reward”.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Baseline logistic model often already performs very strongly on SMS.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0A81CF-B4F4-578C-7888-715ADF456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49076"/>
            <a:ext cx="5458968" cy="435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1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EAA1C-8E56-A56E-F026-30C623F5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966815"/>
            <a:ext cx="4544762" cy="1014385"/>
          </a:xfrm>
        </p:spPr>
        <p:txBody>
          <a:bodyPr anchor="t">
            <a:normAutofit/>
          </a:bodyPr>
          <a:lstStyle/>
          <a:p>
            <a:r>
              <a:rPr lang="en-US" sz="3200" dirty="0"/>
              <a:t>Results: Email (Phishing vs Legitimate)</a:t>
            </a:r>
            <a:endParaRPr lang="LID4096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3F59EB6-27CF-0619-7B9A-888053CB4C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40" y="2143126"/>
            <a:ext cx="4544762" cy="40109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Metrics (from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channel_model_summary.csv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</a:rPr>
              <a:t>):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Logistic Regression: precision/recall for phishing class.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Forest: precision/recall for phishing class.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Observations: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Phishing emails mix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formal language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urgent tone: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“verify your account”, “account locked”, “update password”.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Presence of URLs and security / account keywords is important.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 dataset is more complex than SMS → more overlap between classes.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9BAF04-615D-EF17-66F9-D5D0D3A0A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748" y="1306015"/>
            <a:ext cx="5334160" cy="424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2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2220C-5576-A517-D0E6-27A62E333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092" y="976341"/>
            <a:ext cx="4544762" cy="1042960"/>
          </a:xfrm>
        </p:spPr>
        <p:txBody>
          <a:bodyPr anchor="t">
            <a:normAutofit/>
          </a:bodyPr>
          <a:lstStyle/>
          <a:p>
            <a:r>
              <a:rPr lang="en-US" sz="3200" dirty="0"/>
              <a:t>Results: Phone Calls (Scam vs Normal)</a:t>
            </a:r>
            <a:endParaRPr lang="LID4096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41FD7B78-8414-628F-1C0D-C996D70A7E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40" y="2019302"/>
            <a:ext cx="4544762" cy="41348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Small synthetic dataset from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call_log.csv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Metrics (from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channel_model_summary.csv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</a:rPr>
              <a:t>):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Logistic Regression: precision/recall.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Forest: precision/recall.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Typical scam call patterns: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“This is your bank… account will be locked… call immediately.”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Threats, urgency, requests for immediate action or payment.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Limitation: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Very few examples → models can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overfit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generalize poorly.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 voice scams would require audio features, not just transcripts.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A27332-84D6-4ADE-307B-EB798840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748" y="1237423"/>
            <a:ext cx="5334160" cy="438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2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D820A-CE7E-FC53-A235-48389A06E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dirty="0"/>
              <a:t>High-Risk Examples &amp; </a:t>
            </a:r>
            <a:r>
              <a:rPr lang="en-US"/>
              <a:t>IoCs</a:t>
            </a:r>
            <a:endParaRPr lang="LID4096" dirty="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6F05BC-0A7D-541F-AAD6-1D3D38F6A2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263" y="457200"/>
            <a:ext cx="6007608" cy="1993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 each channel, the model’s </a:t>
            </a:r>
            <a:r>
              <a:rPr kumimoji="0" lang="LID4096" altLang="LID4096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highest-risk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messages show IoCs: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SMS: lottery, prizes, links to unknown domains.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Email: urgent account verification links, security warnings, login pages.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Calls: threats about “account blocked”, “legal action”, immediate callbacks.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These examples can be used as: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Training material for users.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Patterns to enrich detection rules and SIEM / SOC playbooks.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5111CF-47CD-39BE-9F69-37EDD2FF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25" y="2583950"/>
            <a:ext cx="6203298" cy="414070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924120-913B-0B01-CD20-E1EFE7E8E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429000"/>
            <a:ext cx="5869840" cy="183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0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8326A-11DE-A78B-96A4-A4D267C3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Discussion: Strengths &amp; Limitations</a:t>
            </a:r>
            <a:endParaRPr lang="LID4096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E4D248-27B6-8339-D6A0-0A6C27FFA1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4149" y="932688"/>
            <a:ext cx="5916603" cy="49926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Strengths: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Unified ML pipeline for SMS, Email, and Calls.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Simple models (LogReg / RF) still reach good precision/recall on text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Easy to deploy as part of SOC triage or automated filters.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Limitations: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Imbalanced datasets, especially for certain classes and the call channel.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 deep linguistic or context understanding.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 text-based transcripts; no audio features, headers, or user behavior context.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Models need regular retraining as attackers change wording.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21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CF027-26B3-D647-9869-A4E9A6F0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 &amp; Future Work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AF7780-8032-89F3-F88A-806F13802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42937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Machine learning can effectively support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social engineering detection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multiple channels.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SMS and Email models are more stable because of larger, public datasets.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phone call channel shows the need for: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Larger, realistic datasets.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Audio-based features (voice, prosody, caller behavior).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Future work: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transformer models (e.g., BERT) for better text understanding.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Handle class imbalance (resampling, class weights).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Integrate model outputs into SIEM / SOAR workflows for automated response.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276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B3072-A34A-D28F-AA75-D3B47117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LID4096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ECCB1-FA3B-72B9-7B36-7AA5283FE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Almeida, T. A., Hidalgo, J. M. G., &amp; </a:t>
            </a:r>
            <a:r>
              <a:rPr lang="en-US" dirty="0" err="1"/>
              <a:t>Yamakami</a:t>
            </a:r>
            <a:r>
              <a:rPr lang="en-US" dirty="0"/>
              <a:t>, A. (2011). SMS Spam Collection Data Set. UCI / Kaggle, SMS Spam Collection. </a:t>
            </a:r>
            <a:r>
              <a:rPr lang="en-US" u="sng" dirty="0">
                <a:hlinkClick r:id="rId2"/>
              </a:rPr>
              <a:t>https://www.kaggle.com/code/dejavu23/sms-spam-or-ham-beginner/notebook</a:t>
            </a:r>
            <a:endParaRPr lang="en-US" dirty="0"/>
          </a:p>
          <a:p>
            <a:r>
              <a:rPr lang="en-US" dirty="0"/>
              <a:t>Naser Abdullah Alam. CEAS 2008 Phishing Email Dataset. Kaggle. </a:t>
            </a:r>
            <a:r>
              <a:rPr lang="en-US" u="sng" dirty="0">
                <a:hlinkClick r:id="rId3"/>
              </a:rPr>
              <a:t>https://www.kaggle.com/datasets/naserabdullahalam/phishing-email-dataset/data</a:t>
            </a:r>
            <a:r>
              <a:rPr lang="en-US" dirty="0"/>
              <a:t> </a:t>
            </a:r>
          </a:p>
          <a:p>
            <a:r>
              <a:rPr lang="en-US" dirty="0"/>
              <a:t>call_log.csv created as part of this project.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291243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1122</Words>
  <Application>Microsoft Office PowerPoint</Application>
  <PresentationFormat>Широкоэкранный</PresentationFormat>
  <Paragraphs>124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Calibri</vt:lpstr>
      <vt:lpstr>Тема Office</vt:lpstr>
      <vt:lpstr>Investigation of Social Engineering Attacks (Call, Email, SMS) Using Machine Learning</vt:lpstr>
      <vt:lpstr>Problem Background: Social Engineering</vt:lpstr>
      <vt:lpstr>Project Goal &amp; Research Questions</vt:lpstr>
      <vt:lpstr>Datasets Overview</vt:lpstr>
      <vt:lpstr>Class Distribution &amp; Message Length</vt:lpstr>
      <vt:lpstr>Презентация PowerPoint</vt:lpstr>
      <vt:lpstr>Preprocessing &amp; Feature Extraction</vt:lpstr>
      <vt:lpstr>Machine Learning Models</vt:lpstr>
      <vt:lpstr>Results: SMS (Spam vs Ham)</vt:lpstr>
      <vt:lpstr>Results: Email (Phishing vs Legitimate)</vt:lpstr>
      <vt:lpstr>Results: Phone Calls (Scam vs Normal)</vt:lpstr>
      <vt:lpstr>High-Risk Examples &amp; IoCs</vt:lpstr>
      <vt:lpstr>Discussion: Strengths &amp; Limitations</vt:lpstr>
      <vt:lpstr>Conclusion &amp; Future Work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Altynbekov</dc:creator>
  <cp:lastModifiedBy>Ali Altynbekov</cp:lastModifiedBy>
  <cp:revision>18</cp:revision>
  <dcterms:created xsi:type="dcterms:W3CDTF">2025-12-18T00:09:45Z</dcterms:created>
  <dcterms:modified xsi:type="dcterms:W3CDTF">2025-12-18T01:14:06Z</dcterms:modified>
</cp:coreProperties>
</file>